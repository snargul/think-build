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69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9D2AFD4-17BF-550B-DE2A-52517EBC44E4}">
          <p14:sldIdLst>
            <p14:sldId id="256"/>
            <p14:sldId id="257"/>
            <p14:sldId id="258"/>
          </p14:sldIdLst>
        </p14:section>
        <p14:section name="The journey" id="{61299EAD-CD8F-184F-E9A7-C135E1D229FD}">
          <p14:sldIdLst>
            <p14:sldId id="259"/>
            <p14:sldId id="260"/>
            <p14:sldId id="261"/>
          </p14:sldIdLst>
        </p14:section>
        <p14:section name="What worked" id="{E7904859-C6EE-721A-E927-F686975844C5}">
          <p14:sldIdLst>
            <p14:sldId id="262"/>
            <p14:sldId id="263"/>
            <p14:sldId id="264"/>
            <p14:sldId id="265"/>
            <p14:sldId id="277"/>
            <p14:sldId id="266"/>
          </p14:sldIdLst>
        </p14:section>
        <p14:section name="What hurt" id="{D3F34CB4-4BF5-8D6A-1227-6C294A7A8B0C}">
          <p14:sldIdLst>
            <p14:sldId id="269"/>
            <p14:sldId id="267"/>
            <p14:sldId id="270"/>
          </p14:sldIdLst>
        </p14:section>
        <p14:section name="What it means" id="{056BBF1B-12D9-FD18-52D8-B46D37805813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55479"/>
  </p:normalViewPr>
  <p:slideViewPr>
    <p:cSldViewPr snapToGrid="0" snapToObjects="1">
      <p:cViewPr varScale="1">
        <p:scale>
          <a:sx n="67" d="100"/>
          <a:sy n="67" d="100"/>
        </p:scale>
        <p:origin x="2872" y="176"/>
      </p:cViewPr>
      <p:guideLst/>
    </p:cSldViewPr>
  </p:slideViewPr>
  <p:notesTextViewPr>
    <p:cViewPr>
      <p:scale>
        <a:sx n="130" d="100"/>
        <a:sy n="13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05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143000"/>
            <a:ext cx="5669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00200"/>
            <a:ext cx="585216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_OP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Beyond Coding · Engineering with AI Agents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_SHI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Beyond Coding · Engineering with AI Agents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_WO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Beyond Coding · Engineering with AI Agents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_CO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Beyond Coding · Engineering with AI Agents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_ME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Beyond Coding · Engineering with AI Agents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Beyond Coding · Engineering with AI Agents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: engineer surrounded by orbiting agents" descr="art3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11480"/>
            <a:ext cx="6035040" cy="60350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143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A FIELD REPORT FROM A SOFTWARE TEAM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00200"/>
            <a:ext cx="5852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bg1"/>
                </a:solidFill>
              </a:rPr>
              <a:t>Beyond</a:t>
            </a:r>
            <a:endParaRPr lang="en-US" sz="8000" dirty="0"/>
          </a:p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Coding</a:t>
            </a:r>
            <a:endParaRPr lang="en-US" sz="8000" dirty="0"/>
          </a:p>
        </p:txBody>
      </p:sp>
      <p:sp>
        <p:nvSpPr>
          <p:cNvPr id="5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600" dirty="0">
                <a:solidFill>
                  <a:schemeClr val="bg1"/>
                </a:solidFill>
              </a:rPr>
              <a:t>Engineering with AI Agents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68101D2-5043-43AD-2BB5-BCAF8173EA3B}"/>
              </a:ext>
            </a:extLst>
          </p:cNvPr>
          <p:cNvSpPr txBox="1"/>
          <p:nvPr/>
        </p:nvSpPr>
        <p:spPr>
          <a:xfrm>
            <a:off x="731520" y="6217920"/>
            <a:ext cx="655510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Samet </a:t>
            </a:r>
            <a:r>
              <a:rPr lang="en-US" sz="1600" dirty="0" err="1">
                <a:solidFill>
                  <a:schemeClr val="bg2"/>
                </a:solidFill>
              </a:rPr>
              <a:t>Nargül</a:t>
            </a:r>
            <a:r>
              <a:rPr lang="en-US" sz="1600" dirty="0">
                <a:solidFill>
                  <a:schemeClr val="bg2"/>
                </a:solidFill>
              </a:rPr>
              <a:t> | Backend Developer | Baden Württemberg, Germany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SHOW OF HANDS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Two quick questions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1284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Who has used ChatGPT to solve a programming problem?</a:t>
            </a:r>
            <a:endParaRPr lang="en-US" sz="2000" dirty="0"/>
          </a:p>
        </p:txBody>
      </p:sp>
      <p:pic>
        <p:nvPicPr>
          <p:cNvPr id="6" name="Audience illustration 01" descr="art3/hands_ma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4983480" cy="30543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5508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221284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Who has let an AI agent change a whole project, run the tests, and fix its own mistakes?</a:t>
            </a:r>
            <a:endParaRPr lang="en-US" sz="2000" dirty="0"/>
          </a:p>
        </p:txBody>
      </p:sp>
      <p:pic>
        <p:nvPicPr>
          <p:cNvPr id="9" name="Audience illustration 02" descr="art3/hands_f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291840"/>
            <a:ext cx="4983480" cy="30543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You’ll leave with four things</a:t>
            </a:r>
            <a:endParaRPr lang="en-US" sz="3600" dirty="0"/>
          </a:p>
        </p:txBody>
      </p:sp>
      <p:pic>
        <p:nvPicPr>
          <p:cNvPr id="4" name="Hero illustration" descr="art3/hero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498080" y="1463040"/>
            <a:ext cx="4389120" cy="4389120"/>
          </a:xfrm>
          <a:prstGeom prst="rect">
            <a:avLst/>
          </a:prstGeom>
        </p:spPr>
      </p:pic>
      <p:sp>
        <p:nvSpPr>
          <p:cNvPr id="5" name="Promise 1 icon"/>
          <p:cNvSpPr/>
          <p:nvPr/>
        </p:nvSpPr>
        <p:spPr>
          <a:xfrm>
            <a:off x="685800" y="1828800"/>
            <a:ext cx="676656" cy="6766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97" y="2011497"/>
            <a:ext cx="311262" cy="31126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79222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What an agent really is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and how to work with one</a:t>
            </a:r>
            <a:endParaRPr lang="en-US" sz="1600" dirty="0"/>
          </a:p>
        </p:txBody>
      </p:sp>
      <p:sp>
        <p:nvSpPr>
          <p:cNvPr id="8" name="Promise 2 icon"/>
          <p:cNvSpPr/>
          <p:nvPr/>
        </p:nvSpPr>
        <p:spPr>
          <a:xfrm>
            <a:off x="685800" y="2880360"/>
            <a:ext cx="676656" cy="67665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97" y="3063057"/>
            <a:ext cx="311262" cy="31126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284378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What’s changing in the industry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roles that grow, shrink, or come and go</a:t>
            </a:r>
            <a:endParaRPr lang="en-US" sz="1600" dirty="0"/>
          </a:p>
        </p:txBody>
      </p:sp>
      <p:sp>
        <p:nvSpPr>
          <p:cNvPr id="11" name="Promise 3 icon"/>
          <p:cNvSpPr/>
          <p:nvPr/>
        </p:nvSpPr>
        <p:spPr>
          <a:xfrm>
            <a:off x="685800" y="3931920"/>
            <a:ext cx="676656" cy="676656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497" y="4114617"/>
            <a:ext cx="311262" cy="31126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600200" y="389534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What goes wrong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mostly from my own mistakes, and how to protect yourself</a:t>
            </a:r>
            <a:endParaRPr lang="en-US" sz="1600" dirty="0"/>
          </a:p>
        </p:txBody>
      </p:sp>
      <p:sp>
        <p:nvSpPr>
          <p:cNvPr id="14" name="Promise 4 icon"/>
          <p:cNvSpPr/>
          <p:nvPr/>
        </p:nvSpPr>
        <p:spPr>
          <a:xfrm>
            <a:off x="685800" y="4983480"/>
            <a:ext cx="676656" cy="6766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497" y="5166177"/>
            <a:ext cx="311262" cy="31126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600200" y="494690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A starter kit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things you can start doing tomorrow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4"/>
                </a:solidFill>
              </a:rPr>
              <a:t>HOW WE GOT HERE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The evolution of AI-assisted engineering</a:t>
            </a:r>
            <a:endParaRPr lang="en-US" sz="3600" dirty="0"/>
          </a:p>
        </p:txBody>
      </p:sp>
      <p:pic>
        <p:nvPicPr>
          <p:cNvPr id="4" name="Six-stage evolution illustration" descr="art3/evo6_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103120"/>
            <a:ext cx="10972800" cy="2316480"/>
          </a:xfrm>
          <a:prstGeom prst="rect">
            <a:avLst/>
          </a:prstGeom>
        </p:spPr>
      </p:pic>
      <p:sp>
        <p:nvSpPr>
          <p:cNvPr id="5" name="I am here pin"/>
          <p:cNvSpPr/>
          <p:nvPr/>
        </p:nvSpPr>
        <p:spPr>
          <a:xfrm>
            <a:off x="6373368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 txBox="1"/>
          <p:nvPr/>
        </p:nvSpPr>
        <p:spPr>
          <a:xfrm>
            <a:off x="6373368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I'M HERE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4511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~2021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12648" y="4785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Autocomplete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" y="5352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Suggests the next line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441448" y="4511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~2022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441448" y="4785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Chat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441448" y="5352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Ask, copy, paste, fix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270248" y="4511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kern="0" spc="200" dirty="0">
                <a:solidFill>
                  <a:schemeClr val="bg2"/>
                </a:solidFill>
              </a:rPr>
              <a:t>~2025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270248" y="4785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Agents in IDE &amp; CLI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270248" y="5352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AI edits, runs, retries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099048" y="4511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NOW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099048" y="4785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SDD &amp; Harness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099048" y="5352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Specs, skills, checks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927848" y="4511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EMERGING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927848" y="4785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Orchestration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927848" y="5352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A lead agent runs many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756648" y="4511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NEXT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756648" y="4785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2"/>
                </a:solidFill>
              </a:rPr>
              <a:t>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4"/>
                </a:solidFill>
              </a:rPr>
              <a:t>HOW WE GOT HERE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And where it’s heading</a:t>
            </a:r>
            <a:endParaRPr lang="en-US" sz="3600" dirty="0"/>
          </a:p>
        </p:txBody>
      </p:sp>
      <p:pic>
        <p:nvPicPr>
          <p:cNvPr id="4" name="Six-stage evolution illustration" descr="art3/evo6_n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103120"/>
            <a:ext cx="10972800" cy="2316480"/>
          </a:xfrm>
          <a:prstGeom prst="rect">
            <a:avLst/>
          </a:prstGeom>
        </p:spPr>
      </p:pic>
      <p:sp>
        <p:nvSpPr>
          <p:cNvPr id="5" name="I am here pin"/>
          <p:cNvSpPr/>
          <p:nvPr/>
        </p:nvSpPr>
        <p:spPr>
          <a:xfrm>
            <a:off x="6373368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 txBox="1"/>
          <p:nvPr/>
        </p:nvSpPr>
        <p:spPr>
          <a:xfrm>
            <a:off x="6373368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I'M HERE</a:t>
            </a:r>
            <a:endParaRPr lang="en-US" sz="1100" dirty="0"/>
          </a:p>
        </p:txBody>
      </p:sp>
      <p:sp>
        <p:nvSpPr>
          <p:cNvPr id="7" name="Next concept Long-running loops"/>
          <p:cNvSpPr/>
          <p:nvPr/>
        </p:nvSpPr>
        <p:spPr>
          <a:xfrm>
            <a:off x="685800" y="4602480"/>
            <a:ext cx="3474720" cy="1188720"/>
          </a:xfrm>
          <a:prstGeom prst="roundRect">
            <a:avLst>
              <a:gd name="adj" fmla="val 13846"/>
            </a:avLst>
          </a:prstGeom>
          <a:solidFill>
            <a:schemeClr val="accent4">
              <a:alpha val="12000"/>
            </a:schemeClr>
          </a:solidFill>
          <a:ln w="12700">
            <a:solidFill>
              <a:srgbClr val="4CC9F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Long-running loops icon"/>
          <p:cNvSpPr/>
          <p:nvPr/>
        </p:nvSpPr>
        <p:spPr>
          <a:xfrm>
            <a:off x="868680" y="4785360"/>
            <a:ext cx="548640" cy="548640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3" y="493349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472135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Long-running loops</a:t>
            </a:r>
            <a:endParaRPr lang="en-US" sz="1600" dirty="0"/>
          </a:p>
          <a:p>
            <a:r>
              <a:rPr lang="en-US" sz="1400" dirty="0">
                <a:solidFill>
                  <a:schemeClr val="bg2"/>
                </a:solidFill>
              </a:rPr>
              <a:t>The system restarts the agent until the tests pass, even overnight.</a:t>
            </a:r>
            <a:endParaRPr lang="en-US" sz="1600" dirty="0"/>
          </a:p>
        </p:txBody>
      </p:sp>
      <p:sp>
        <p:nvSpPr>
          <p:cNvPr id="11" name="Next concept Hooks"/>
          <p:cNvSpPr/>
          <p:nvPr/>
        </p:nvSpPr>
        <p:spPr>
          <a:xfrm>
            <a:off x="4343400" y="4602480"/>
            <a:ext cx="3474720" cy="1188720"/>
          </a:xfrm>
          <a:prstGeom prst="roundRect">
            <a:avLst>
              <a:gd name="adj" fmla="val 13846"/>
            </a:avLst>
          </a:prstGeom>
          <a:solidFill>
            <a:schemeClr val="accent5">
              <a:alpha val="12000"/>
            </a:schemeClr>
          </a:solidFill>
          <a:ln w="12700">
            <a:solidFill>
              <a:srgbClr val="FFC8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Hooks icon"/>
          <p:cNvSpPr/>
          <p:nvPr/>
        </p:nvSpPr>
        <p:spPr>
          <a:xfrm>
            <a:off x="4526280" y="4785360"/>
            <a:ext cx="548640" cy="548640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493349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12080" y="472135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Hooks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Automatic rules at fixed moments. A prompt asks; a hook guarantees</a:t>
            </a:r>
            <a:endParaRPr lang="en-US" sz="1600" dirty="0"/>
          </a:p>
        </p:txBody>
      </p:sp>
      <p:sp>
        <p:nvSpPr>
          <p:cNvPr id="15" name="Next concept Humans on the loop"/>
          <p:cNvSpPr/>
          <p:nvPr/>
        </p:nvSpPr>
        <p:spPr>
          <a:xfrm>
            <a:off x="8001000" y="4602480"/>
            <a:ext cx="3474720" cy="1188720"/>
          </a:xfrm>
          <a:prstGeom prst="roundRect">
            <a:avLst>
              <a:gd name="adj" fmla="val 13846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Humans on the loop icon"/>
          <p:cNvSpPr/>
          <p:nvPr/>
        </p:nvSpPr>
        <p:spPr>
          <a:xfrm>
            <a:off x="8183880" y="4785360"/>
            <a:ext cx="548640" cy="548640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2013" y="493349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69680" y="472135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Humans on the loop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Design the system, set the rules, step in when needed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4"/>
                </a:solidFill>
              </a:rPr>
              <a:t>THE FIRST PROBLEM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More words didn't mean better aim</a:t>
            </a:r>
            <a:endParaRPr lang="en-US" sz="3600" dirty="0"/>
          </a:p>
        </p:txBody>
      </p:sp>
      <p:pic>
        <p:nvPicPr>
          <p:cNvPr id="4" name="Long prompt and scattered darts" descr="art3/prompt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5394960" cy="4100170"/>
          </a:xfrm>
          <a:prstGeom prst="rect">
            <a:avLst/>
          </a:prstGeom>
        </p:spPr>
      </p:pic>
      <p:sp>
        <p:nvSpPr>
          <p:cNvPr id="5" name="Problem 1 icon"/>
          <p:cNvSpPr/>
          <p:nvPr/>
        </p:nvSpPr>
        <p:spPr>
          <a:xfrm>
            <a:off x="6400800" y="1920240"/>
            <a:ext cx="566928" cy="566928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871" y="2073311"/>
            <a:ext cx="260787" cy="26078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178040" y="1874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Long prompts hid assumptions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178040" y="22677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The AI filled gaps with confident guesses</a:t>
            </a:r>
            <a:endParaRPr lang="en-US" sz="1500" dirty="0"/>
          </a:p>
        </p:txBody>
      </p:sp>
      <p:sp>
        <p:nvSpPr>
          <p:cNvPr id="9" name="Problem 2 icon"/>
          <p:cNvSpPr/>
          <p:nvPr/>
        </p:nvSpPr>
        <p:spPr>
          <a:xfrm>
            <a:off x="6400800" y="2926080"/>
            <a:ext cx="566928" cy="566928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871" y="3079151"/>
            <a:ext cx="260787" cy="260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178040" y="28803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Every session started from zero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7178040" y="32735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Decisions didn't carry over</a:t>
            </a:r>
            <a:endParaRPr lang="en-US" sz="1500" dirty="0"/>
          </a:p>
        </p:txBody>
      </p:sp>
      <p:sp>
        <p:nvSpPr>
          <p:cNvPr id="13" name="Problem 3 icon"/>
          <p:cNvSpPr/>
          <p:nvPr/>
        </p:nvSpPr>
        <p:spPr>
          <a:xfrm>
            <a:off x="6400800" y="3931920"/>
            <a:ext cx="566928" cy="566928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871" y="4084991"/>
            <a:ext cx="260787" cy="26078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78040" y="3886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Nothing to review against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7178040" y="42793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No written plan, so no clear “done”</a:t>
            </a:r>
            <a:endParaRPr lang="en-US" sz="1500" dirty="0"/>
          </a:p>
        </p:txBody>
      </p:sp>
      <p:sp>
        <p:nvSpPr>
          <p:cNvPr id="17" name="Takeaway"/>
          <p:cNvSpPr/>
          <p:nvPr/>
        </p:nvSpPr>
        <p:spPr>
          <a:xfrm>
            <a:off x="6400800" y="5074920"/>
            <a:ext cx="5120640" cy="640080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2"/>
          <p:cNvSpPr txBox="1"/>
          <p:nvPr/>
        </p:nvSpPr>
        <p:spPr>
          <a:xfrm>
            <a:off x="640080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Great for exploring. Fragile for products.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WHAT WORKED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Adding a harness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276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</a:rPr>
              <a:t>A harness doesn't make the model stronger. It makes its strength usable.</a:t>
            </a:r>
            <a:endParaRPr lang="en-US" sz="1700" dirty="0"/>
          </a:p>
        </p:txBody>
      </p:sp>
      <p:sp>
        <p:nvSpPr>
          <p:cNvPr id="5" name="Metro segment 1"/>
          <p:cNvSpPr/>
          <p:nvPr/>
        </p:nvSpPr>
        <p:spPr>
          <a:xfrm>
            <a:off x="1143000" y="3337560"/>
            <a:ext cx="1645920" cy="0"/>
          </a:xfrm>
          <a:prstGeom prst="line">
            <a:avLst/>
          </a:prstGeom>
          <a:noFill/>
          <a:ln w="889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Metro segment 2"/>
          <p:cNvSpPr/>
          <p:nvPr/>
        </p:nvSpPr>
        <p:spPr>
          <a:xfrm>
            <a:off x="2788920" y="3337560"/>
            <a:ext cx="1645920" cy="0"/>
          </a:xfrm>
          <a:prstGeom prst="line">
            <a:avLst/>
          </a:prstGeom>
          <a:noFill/>
          <a:ln w="889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Metro segment 3"/>
          <p:cNvSpPr/>
          <p:nvPr/>
        </p:nvSpPr>
        <p:spPr>
          <a:xfrm>
            <a:off x="4434840" y="3337560"/>
            <a:ext cx="1645920" cy="0"/>
          </a:xfrm>
          <a:prstGeom prst="line">
            <a:avLst/>
          </a:prstGeom>
          <a:noFill/>
          <a:ln w="889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Metro segment 4"/>
          <p:cNvSpPr/>
          <p:nvPr/>
        </p:nvSpPr>
        <p:spPr>
          <a:xfrm>
            <a:off x="6080760" y="3337560"/>
            <a:ext cx="1645920" cy="0"/>
          </a:xfrm>
          <a:prstGeom prst="line">
            <a:avLst/>
          </a:prstGeom>
          <a:noFill/>
          <a:ln w="889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Metro segment 5"/>
          <p:cNvSpPr/>
          <p:nvPr/>
        </p:nvSpPr>
        <p:spPr>
          <a:xfrm>
            <a:off x="7726680" y="3337560"/>
            <a:ext cx="1645920" cy="0"/>
          </a:xfrm>
          <a:prstGeom prst="line">
            <a:avLst/>
          </a:prstGeom>
          <a:noFill/>
          <a:ln w="889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Metro segment 6"/>
          <p:cNvSpPr/>
          <p:nvPr/>
        </p:nvSpPr>
        <p:spPr>
          <a:xfrm>
            <a:off x="9372600" y="3337560"/>
            <a:ext cx="1645920" cy="0"/>
          </a:xfrm>
          <a:prstGeom prst="line">
            <a:avLst/>
          </a:prstGeom>
          <a:noFill/>
          <a:ln w="889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594360" y="2514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PLAN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CLARIFY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BUILD &amp; PROVE</a:t>
            </a:r>
            <a:endParaRPr lang="en-US" sz="1200" dirty="0"/>
          </a:p>
        </p:txBody>
      </p:sp>
      <p:sp>
        <p:nvSpPr>
          <p:cNvPr id="14" name="Station PRD"/>
          <p:cNvSpPr/>
          <p:nvPr/>
        </p:nvSpPr>
        <p:spPr>
          <a:xfrm>
            <a:off x="941832" y="3136392"/>
            <a:ext cx="402336" cy="402336"/>
          </a:xfrm>
          <a:prstGeom prst="ellipse">
            <a:avLst/>
          </a:prstGeom>
          <a:solidFill>
            <a:schemeClr val="tx1"/>
          </a:solidFill>
          <a:ln w="5715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 txBox="1"/>
          <p:nvPr/>
        </p:nvSpPr>
        <p:spPr>
          <a:xfrm>
            <a:off x="36576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PRD</a:t>
            </a:r>
            <a:endParaRPr lang="en-US" sz="1600" dirty="0"/>
          </a:p>
        </p:txBody>
      </p:sp>
      <p:sp>
        <p:nvSpPr>
          <p:cNvPr id="16" name="Station Roadmap"/>
          <p:cNvSpPr/>
          <p:nvPr/>
        </p:nvSpPr>
        <p:spPr>
          <a:xfrm>
            <a:off x="2587752" y="3136392"/>
            <a:ext cx="402336" cy="402336"/>
          </a:xfrm>
          <a:prstGeom prst="ellipse">
            <a:avLst/>
          </a:prstGeom>
          <a:solidFill>
            <a:schemeClr val="tx1"/>
          </a:solidFill>
          <a:ln w="5715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 txBox="1"/>
          <p:nvPr/>
        </p:nvSpPr>
        <p:spPr>
          <a:xfrm>
            <a:off x="201168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Roadmap</a:t>
            </a:r>
            <a:endParaRPr lang="en-US" sz="1600" dirty="0"/>
          </a:p>
        </p:txBody>
      </p:sp>
      <p:sp>
        <p:nvSpPr>
          <p:cNvPr id="18" name="Station Epics"/>
          <p:cNvSpPr/>
          <p:nvPr/>
        </p:nvSpPr>
        <p:spPr>
          <a:xfrm>
            <a:off x="4233672" y="3136392"/>
            <a:ext cx="402336" cy="402336"/>
          </a:xfrm>
          <a:prstGeom prst="ellipse">
            <a:avLst/>
          </a:prstGeom>
          <a:solidFill>
            <a:schemeClr val="tx1"/>
          </a:solidFill>
          <a:ln w="5715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 txBox="1"/>
          <p:nvPr/>
        </p:nvSpPr>
        <p:spPr>
          <a:xfrm>
            <a:off x="365760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Epics</a:t>
            </a:r>
            <a:endParaRPr lang="en-US" sz="1600" dirty="0"/>
          </a:p>
        </p:txBody>
      </p:sp>
      <p:sp>
        <p:nvSpPr>
          <p:cNvPr id="20" name="Station Brainstorm"/>
          <p:cNvSpPr/>
          <p:nvPr/>
        </p:nvSpPr>
        <p:spPr>
          <a:xfrm>
            <a:off x="5879592" y="3136392"/>
            <a:ext cx="402336" cy="402336"/>
          </a:xfrm>
          <a:prstGeom prst="ellipse">
            <a:avLst/>
          </a:prstGeom>
          <a:solidFill>
            <a:schemeClr val="tx1"/>
          </a:solidFill>
          <a:ln w="571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 txBox="1"/>
          <p:nvPr/>
        </p:nvSpPr>
        <p:spPr>
          <a:xfrm>
            <a:off x="530352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Brainstorm</a:t>
            </a:r>
            <a:endParaRPr lang="en-US" sz="1600" dirty="0"/>
          </a:p>
        </p:txBody>
      </p:sp>
      <p:sp>
        <p:nvSpPr>
          <p:cNvPr id="22" name="Station Specs"/>
          <p:cNvSpPr/>
          <p:nvPr/>
        </p:nvSpPr>
        <p:spPr>
          <a:xfrm>
            <a:off x="7525512" y="3136392"/>
            <a:ext cx="402336" cy="402336"/>
          </a:xfrm>
          <a:prstGeom prst="ellipse">
            <a:avLst/>
          </a:prstGeom>
          <a:solidFill>
            <a:schemeClr val="tx1"/>
          </a:solidFill>
          <a:ln w="571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 txBox="1"/>
          <p:nvPr/>
        </p:nvSpPr>
        <p:spPr>
          <a:xfrm>
            <a:off x="694944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Specs</a:t>
            </a:r>
            <a:endParaRPr lang="en-US" sz="1600" dirty="0"/>
          </a:p>
        </p:txBody>
      </p:sp>
      <p:sp>
        <p:nvSpPr>
          <p:cNvPr id="24" name="Station Implement"/>
          <p:cNvSpPr/>
          <p:nvPr/>
        </p:nvSpPr>
        <p:spPr>
          <a:xfrm>
            <a:off x="9171432" y="3136392"/>
            <a:ext cx="402336" cy="402336"/>
          </a:xfrm>
          <a:prstGeom prst="ellipse">
            <a:avLst/>
          </a:prstGeom>
          <a:solidFill>
            <a:schemeClr val="tx1"/>
          </a:solidFill>
          <a:ln w="5715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 txBox="1"/>
          <p:nvPr/>
        </p:nvSpPr>
        <p:spPr>
          <a:xfrm>
            <a:off x="859536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Implement</a:t>
            </a:r>
            <a:endParaRPr lang="en-US" sz="1600" dirty="0"/>
          </a:p>
        </p:txBody>
      </p:sp>
      <p:sp>
        <p:nvSpPr>
          <p:cNvPr id="26" name="Station Verify"/>
          <p:cNvSpPr/>
          <p:nvPr/>
        </p:nvSpPr>
        <p:spPr>
          <a:xfrm>
            <a:off x="10762488" y="308152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200400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24128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Verify</a:t>
            </a:r>
            <a:endParaRPr lang="en-US" sz="1600" dirty="0"/>
          </a:p>
        </p:txBody>
      </p:sp>
      <p:sp>
        <p:nvSpPr>
          <p:cNvPr id="29" name="Brainstorm callout"/>
          <p:cNvSpPr/>
          <p:nvPr/>
        </p:nvSpPr>
        <p:spPr>
          <a:xfrm>
            <a:off x="4709160" y="4206240"/>
            <a:ext cx="274320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 txBox="1"/>
          <p:nvPr/>
        </p:nvSpPr>
        <p:spPr>
          <a:xfrm>
            <a:off x="475488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Q&amp;A until ≥95% confident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WHAT CHANGED FOR US</a:t>
            </a:r>
            <a:endParaRPr lang="en-US" sz="1200" dirty="0"/>
          </a:p>
        </p:txBody>
      </p:sp>
      <p:sp>
        <p:nvSpPr>
          <p:cNvPr id="32" name="Outcome 1"/>
          <p:cNvSpPr/>
          <p:nvPr/>
        </p:nvSpPr>
        <p:spPr>
          <a:xfrm>
            <a:off x="685800" y="5166360"/>
            <a:ext cx="3520440" cy="685800"/>
          </a:xfrm>
          <a:prstGeom prst="roundRect">
            <a:avLst>
              <a:gd name="adj" fmla="val 49333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58384"/>
            <a:ext cx="301752" cy="30175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417320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Predictable results</a:t>
            </a:r>
            <a:endParaRPr lang="en-US" sz="1500" dirty="0"/>
          </a:p>
        </p:txBody>
      </p:sp>
      <p:sp>
        <p:nvSpPr>
          <p:cNvPr id="35" name="Outcome 2"/>
          <p:cNvSpPr/>
          <p:nvPr/>
        </p:nvSpPr>
        <p:spPr>
          <a:xfrm>
            <a:off x="4343400" y="5166360"/>
            <a:ext cx="3520440" cy="685800"/>
          </a:xfrm>
          <a:prstGeom prst="roundRect">
            <a:avLst>
              <a:gd name="adj" fmla="val 49333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5358384"/>
            <a:ext cx="301752" cy="30175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074920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Decisions written down</a:t>
            </a:r>
            <a:endParaRPr lang="en-US" sz="1500" dirty="0"/>
          </a:p>
        </p:txBody>
      </p:sp>
      <p:sp>
        <p:nvSpPr>
          <p:cNvPr id="38" name="Outcome 3"/>
          <p:cNvSpPr/>
          <p:nvPr/>
        </p:nvSpPr>
        <p:spPr>
          <a:xfrm>
            <a:off x="8001000" y="5166360"/>
            <a:ext cx="3520440" cy="685800"/>
          </a:xfrm>
          <a:prstGeom prst="roundRect">
            <a:avLst>
              <a:gd name="adj" fmla="val 49333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5358384"/>
            <a:ext cx="301752" cy="30175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732520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Clear review criteria</a:t>
            </a:r>
            <a:endParaRPr lang="en-US" sz="15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INSIDE ONE AGENT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makes an agent an agent</a:t>
            </a:r>
            <a:endParaRPr lang="en-US" sz="3600" dirty="0"/>
          </a:p>
        </p:txBody>
      </p:sp>
      <p:pic>
        <p:nvPicPr>
          <p:cNvPr id="4" name="Agent loop ring" descr="art3/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28800"/>
            <a:ext cx="3931920" cy="3931920"/>
          </a:xfrm>
          <a:prstGeom prst="rect">
            <a:avLst/>
          </a:prstGeom>
        </p:spPr>
      </p:pic>
      <p:sp>
        <p:nvSpPr>
          <p:cNvPr id="5" name="Loop node Plan"/>
          <p:cNvSpPr/>
          <p:nvPr/>
        </p:nvSpPr>
        <p:spPr>
          <a:xfrm>
            <a:off x="2862072" y="2040941"/>
            <a:ext cx="676656" cy="676656"/>
          </a:xfrm>
          <a:prstGeom prst="ellipse">
            <a:avLst/>
          </a:prstGeom>
          <a:solidFill>
            <a:schemeClr val="tx1"/>
          </a:solidFill>
          <a:ln w="381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2223821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30168" y="2196389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Plan</a:t>
            </a:r>
            <a:endParaRPr lang="en-US" sz="1600" dirty="0"/>
          </a:p>
        </p:txBody>
      </p:sp>
      <p:sp>
        <p:nvSpPr>
          <p:cNvPr id="8" name="Loop node Act"/>
          <p:cNvSpPr/>
          <p:nvPr/>
        </p:nvSpPr>
        <p:spPr>
          <a:xfrm>
            <a:off x="4277563" y="3456432"/>
            <a:ext cx="676656" cy="676656"/>
          </a:xfrm>
          <a:prstGeom prst="ellipse">
            <a:avLst/>
          </a:prstGeom>
          <a:solidFill>
            <a:schemeClr val="tx1"/>
          </a:solidFill>
          <a:ln w="381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443" y="3639312"/>
            <a:ext cx="310896" cy="310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45659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Act</a:t>
            </a:r>
            <a:endParaRPr lang="en-US" sz="1600" dirty="0"/>
          </a:p>
        </p:txBody>
      </p:sp>
      <p:sp>
        <p:nvSpPr>
          <p:cNvPr id="11" name="Loop node Observe"/>
          <p:cNvSpPr/>
          <p:nvPr/>
        </p:nvSpPr>
        <p:spPr>
          <a:xfrm>
            <a:off x="2862072" y="4871923"/>
            <a:ext cx="676656" cy="676656"/>
          </a:xfrm>
          <a:prstGeom prst="ellipse">
            <a:avLst/>
          </a:prstGeom>
          <a:solidFill>
            <a:schemeClr val="tx1"/>
          </a:solidFill>
          <a:ln w="381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5054803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5027371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Observe</a:t>
            </a:r>
            <a:endParaRPr lang="en-US" sz="1600" dirty="0"/>
          </a:p>
        </p:txBody>
      </p:sp>
      <p:sp>
        <p:nvSpPr>
          <p:cNvPr id="14" name="Loop node Adjust"/>
          <p:cNvSpPr/>
          <p:nvPr/>
        </p:nvSpPr>
        <p:spPr>
          <a:xfrm>
            <a:off x="1446581" y="3456432"/>
            <a:ext cx="676656" cy="676656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9461" y="3639312"/>
            <a:ext cx="310896" cy="31089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3269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Adjust</a:t>
            </a:r>
            <a:endParaRPr lang="en-US" sz="1600" dirty="0"/>
          </a:p>
        </p:txBody>
      </p:sp>
      <p:sp>
        <p:nvSpPr>
          <p:cNvPr id="17" name="You set the goal"/>
          <p:cNvSpPr/>
          <p:nvPr/>
        </p:nvSpPr>
        <p:spPr>
          <a:xfrm>
            <a:off x="548640" y="1783080"/>
            <a:ext cx="2103120" cy="402336"/>
          </a:xfrm>
          <a:prstGeom prst="roundRect">
            <a:avLst>
              <a:gd name="adj" fmla="val 4090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1"/>
          <p:cNvSpPr txBox="1"/>
          <p:nvPr/>
        </p:nvSpPr>
        <p:spPr>
          <a:xfrm>
            <a:off x="548640" y="17830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You set the goal</a:t>
            </a:r>
            <a:endParaRPr lang="en-US" sz="1300" dirty="0"/>
          </a:p>
        </p:txBody>
      </p:sp>
      <p:sp>
        <p:nvSpPr>
          <p:cNvPr id="19" name="You decide it is done"/>
          <p:cNvSpPr/>
          <p:nvPr/>
        </p:nvSpPr>
        <p:spPr>
          <a:xfrm>
            <a:off x="3794760" y="5532120"/>
            <a:ext cx="2377440" cy="402336"/>
          </a:xfrm>
          <a:prstGeom prst="roundRect">
            <a:avLst>
              <a:gd name="adj" fmla="val 4090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3"/>
          <p:cNvSpPr txBox="1"/>
          <p:nvPr/>
        </p:nvSpPr>
        <p:spPr>
          <a:xfrm>
            <a:off x="3794760" y="5532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You decide it’s done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9037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ANATOMY</a:t>
            </a:r>
            <a:endParaRPr lang="en-US" sz="1200" dirty="0"/>
          </a:p>
        </p:txBody>
      </p:sp>
      <p:sp>
        <p:nvSpPr>
          <p:cNvPr id="22" name="Anatomy Model"/>
          <p:cNvSpPr/>
          <p:nvPr/>
        </p:nvSpPr>
        <p:spPr>
          <a:xfrm>
            <a:off x="6903720" y="2176272"/>
            <a:ext cx="512064" cy="512064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1977" y="2314529"/>
            <a:ext cx="235549" cy="23554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589520" y="21396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Model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brain that reasons</a:t>
            </a:r>
            <a:endParaRPr lang="en-US" sz="1600" dirty="0"/>
          </a:p>
        </p:txBody>
      </p:sp>
      <p:sp>
        <p:nvSpPr>
          <p:cNvPr id="25" name="Anatomy Instructions"/>
          <p:cNvSpPr/>
          <p:nvPr/>
        </p:nvSpPr>
        <p:spPr>
          <a:xfrm>
            <a:off x="6903720" y="2889504"/>
            <a:ext cx="512064" cy="512064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1977" y="3027761"/>
            <a:ext cx="235549" cy="23554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589520" y="28529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Instructions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Its role and rules, often just a text file</a:t>
            </a:r>
            <a:endParaRPr lang="en-US" sz="1600" dirty="0"/>
          </a:p>
        </p:txBody>
      </p:sp>
      <p:sp>
        <p:nvSpPr>
          <p:cNvPr id="28" name="Anatomy Tools"/>
          <p:cNvSpPr/>
          <p:nvPr/>
        </p:nvSpPr>
        <p:spPr>
          <a:xfrm>
            <a:off x="6903720" y="3602736"/>
            <a:ext cx="512064" cy="512064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1977" y="3740993"/>
            <a:ext cx="235549" cy="235549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589520" y="3566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Tools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What it may touch: files, terminal, tests</a:t>
            </a:r>
            <a:endParaRPr lang="en-US" sz="1600" dirty="0"/>
          </a:p>
        </p:txBody>
      </p:sp>
      <p:sp>
        <p:nvSpPr>
          <p:cNvPr id="31" name="Anatomy Loop"/>
          <p:cNvSpPr/>
          <p:nvPr/>
        </p:nvSpPr>
        <p:spPr>
          <a:xfrm>
            <a:off x="6903720" y="4315968"/>
            <a:ext cx="512064" cy="512064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977" y="4454225"/>
            <a:ext cx="235549" cy="235549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589520" y="42793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Loop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Plan, act, observe, adjust, until done</a:t>
            </a:r>
            <a:endParaRPr lang="en-US" sz="1600" dirty="0"/>
          </a:p>
        </p:txBody>
      </p:sp>
      <p:sp>
        <p:nvSpPr>
          <p:cNvPr id="34" name="What it is not"/>
          <p:cNvSpPr/>
          <p:nvPr/>
        </p:nvSpPr>
        <p:spPr>
          <a:xfrm>
            <a:off x="6903720" y="5120640"/>
            <a:ext cx="4617720" cy="868680"/>
          </a:xfrm>
          <a:prstGeom prst="roundRect">
            <a:avLst>
              <a:gd name="adj" fmla="val 14737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24"/>
          <p:cNvSpPr txBox="1"/>
          <p:nvPr/>
        </p:nvSpPr>
        <p:spPr>
          <a:xfrm>
            <a:off x="7132320" y="519379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WHAT IT ISN’T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 mind reader. A senior engineer. Accountable for the result.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WORKING WITH ONE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How to work with an agent</a:t>
            </a:r>
            <a:endParaRPr lang="en-US" sz="3600" dirty="0"/>
          </a:p>
        </p:txBody>
      </p:sp>
      <p:sp>
        <p:nvSpPr>
          <p:cNvPr id="4" name="Agent file card"/>
          <p:cNvSpPr/>
          <p:nvPr/>
        </p:nvSpPr>
        <p:spPr>
          <a:xfrm>
            <a:off x="685800" y="1783080"/>
            <a:ext cx="5120640" cy="2743200"/>
          </a:xfrm>
          <a:prstGeom prst="roundRect">
            <a:avLst>
              <a:gd name="adj" fmla="val 4667"/>
            </a:avLst>
          </a:prstGeom>
          <a:solidFill>
            <a:srgbClr val="0F131A"/>
          </a:solidFill>
          <a:ln w="12700">
            <a:solidFill>
              <a:srgbClr val="8B7C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704088" y="2167128"/>
            <a:ext cx="5084064" cy="0"/>
          </a:xfrm>
          <a:prstGeom prst="rect">
            <a:avLst/>
          </a:prstGeom>
          <a:noFill/>
          <a:ln w="12700">
            <a:solidFill>
              <a:srgbClr val="2A324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868680" y="1911096"/>
            <a:ext cx="128016" cy="128016"/>
          </a:xfrm>
          <a:prstGeom prst="ellipse">
            <a:avLst/>
          </a:prstGeom>
          <a:solidFill>
            <a:srgbClr val="FF5C8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1069848" y="1911096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1271016" y="1911096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 txBox="1"/>
          <p:nvPr/>
        </p:nvSpPr>
        <p:spPr>
          <a:xfrm>
            <a:off x="1600200" y="1837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test-reviewer.md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28600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name: </a:t>
            </a:r>
            <a:r>
              <a:rPr lang="en-US" sz="1300" dirty="0">
                <a:solidFill>
                  <a:schemeClr val="bg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test-reviewer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description: </a:t>
            </a:r>
            <a:r>
              <a:rPr lang="en-US" sz="1300" dirty="0">
                <a:solidFill>
                  <a:schemeClr val="bg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Finds untested edge cases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tools: </a:t>
            </a:r>
            <a:r>
              <a:rPr lang="en-US" sz="1300" dirty="0">
                <a:solidFill>
                  <a:schemeClr val="bg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Read, Grep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You are a careful test reviewer.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every change, list the edge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cases that are not tested.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Never edit code. Report only.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63600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Creating one is this simple. </a:t>
            </a:r>
            <a:r>
              <a:rPr lang="en-US" sz="1500" b="1" dirty="0">
                <a:solidFill>
                  <a:schemeClr val="accent2"/>
                </a:solidFill>
              </a:rPr>
              <a:t>Using one well is a skill.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BRIEF IT WELL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157984"/>
            <a:ext cx="54864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 txBox="1"/>
          <p:nvPr/>
        </p:nvSpPr>
        <p:spPr>
          <a:xfrm>
            <a:off x="6446520" y="21214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Goal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What should exist when it’s finished?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761488"/>
            <a:ext cx="54864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 txBox="1"/>
          <p:nvPr/>
        </p:nvSpPr>
        <p:spPr>
          <a:xfrm>
            <a:off x="6446520" y="27249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Context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Which files, decisions and examples matter?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3364992"/>
            <a:ext cx="54864" cy="45720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 txBox="1"/>
          <p:nvPr/>
        </p:nvSpPr>
        <p:spPr>
          <a:xfrm>
            <a:off x="6446520" y="332841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Constraints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What must it not touch or change?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968496"/>
            <a:ext cx="54864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 txBox="1"/>
          <p:nvPr/>
        </p:nvSpPr>
        <p:spPr>
          <a:xfrm>
            <a:off x="6446520" y="39319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Done when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Which tests or checks prove it?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WATCH FOR</a:t>
            </a:r>
            <a:endParaRPr lang="en-US" sz="1200" dirty="0"/>
          </a:p>
        </p:txBody>
      </p:sp>
      <p:sp>
        <p:nvSpPr>
          <p:cNvPr id="22" name="Failure mode 1"/>
          <p:cNvSpPr/>
          <p:nvPr/>
        </p:nvSpPr>
        <p:spPr>
          <a:xfrm>
            <a:off x="685800" y="5532120"/>
            <a:ext cx="2578608" cy="420624"/>
          </a:xfrm>
          <a:prstGeom prst="roundRect">
            <a:avLst>
              <a:gd name="adj" fmla="val 50000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 txBox="1"/>
          <p:nvPr/>
        </p:nvSpPr>
        <p:spPr>
          <a:xfrm>
            <a:off x="685800" y="553212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Confidently wrong</a:t>
            </a:r>
            <a:endParaRPr lang="en-US" sz="1300" dirty="0"/>
          </a:p>
        </p:txBody>
      </p:sp>
      <p:sp>
        <p:nvSpPr>
          <p:cNvPr id="24" name="Failure mode 2"/>
          <p:cNvSpPr/>
          <p:nvPr/>
        </p:nvSpPr>
        <p:spPr>
          <a:xfrm>
            <a:off x="3401568" y="5532120"/>
            <a:ext cx="2578608" cy="420624"/>
          </a:xfrm>
          <a:prstGeom prst="roundRect">
            <a:avLst>
              <a:gd name="adj" fmla="val 50000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 txBox="1"/>
          <p:nvPr/>
        </p:nvSpPr>
        <p:spPr>
          <a:xfrm>
            <a:off x="3401568" y="553212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Changes too much</a:t>
            </a:r>
            <a:endParaRPr lang="en-US" sz="1300" dirty="0"/>
          </a:p>
        </p:txBody>
      </p:sp>
      <p:sp>
        <p:nvSpPr>
          <p:cNvPr id="26" name="Failure mode 3"/>
          <p:cNvSpPr/>
          <p:nvPr/>
        </p:nvSpPr>
        <p:spPr>
          <a:xfrm>
            <a:off x="6117336" y="5532120"/>
            <a:ext cx="2578608" cy="420624"/>
          </a:xfrm>
          <a:prstGeom prst="roundRect">
            <a:avLst>
              <a:gd name="adj" fmla="val 50000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 txBox="1"/>
          <p:nvPr/>
        </p:nvSpPr>
        <p:spPr>
          <a:xfrm>
            <a:off x="6117336" y="553212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Says “done” too early</a:t>
            </a:r>
            <a:endParaRPr lang="en-US" sz="1300" dirty="0"/>
          </a:p>
        </p:txBody>
      </p:sp>
      <p:sp>
        <p:nvSpPr>
          <p:cNvPr id="28" name="Failure mode 4"/>
          <p:cNvSpPr/>
          <p:nvPr/>
        </p:nvSpPr>
        <p:spPr>
          <a:xfrm>
            <a:off x="8833104" y="5532120"/>
            <a:ext cx="2578608" cy="420624"/>
          </a:xfrm>
          <a:prstGeom prst="roundRect">
            <a:avLst>
              <a:gd name="adj" fmla="val 50000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 txBox="1"/>
          <p:nvPr/>
        </p:nvSpPr>
        <p:spPr>
          <a:xfrm>
            <a:off x="8833104" y="553212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Loops on the same error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INSIDE THE HARNESS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Skills, agents and hooks, as a kitchen</a:t>
            </a:r>
            <a:endParaRPr lang="en-US" sz="3600" dirty="0"/>
          </a:p>
        </p:txBody>
      </p:sp>
      <p:pic>
        <p:nvPicPr>
          <p:cNvPr id="4" name="Kitchen brigade illustration" descr="art3/kitche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7406640" cy="39995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9955" y="3683889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Architect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750515" y="3683889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Builder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28109" y="3683889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Standards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8669" y="3683889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Tester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5311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You, at the pass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Recipes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Skills: the know-how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Tickets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017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Specs: clear orders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Cooks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3840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Agents: one job each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House rules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4663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Hooks: always enforced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pass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5486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You: every plate gets tasted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BEYOND THE KITCHEN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The next level: a team you can watch</a:t>
            </a:r>
            <a:endParaRPr lang="en-US" sz="3600" dirty="0"/>
          </a:p>
        </p:txBody>
      </p:sp>
      <p:pic>
        <p:nvPicPr>
          <p:cNvPr id="4" name="Isometric agent office illustration" descr="art3/off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36192"/>
            <a:ext cx="5884164" cy="4279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852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OpenClaw runs agent teams. Tools like OpenClaw Office and OpenClawfice let you watch them as a live office.</a:t>
            </a:r>
            <a:endParaRPr lang="en-US" sz="1200" dirty="0"/>
          </a:p>
        </p:txBody>
      </p:sp>
      <p:sp>
        <p:nvSpPr>
          <p:cNvPr id="6" name="Agent icon"/>
          <p:cNvSpPr/>
          <p:nvPr/>
        </p:nvSpPr>
        <p:spPr>
          <a:xfrm>
            <a:off x="8183880" y="1773936"/>
            <a:ext cx="402336" cy="402336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511" y="1882567"/>
            <a:ext cx="185075" cy="1850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0" y="17373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 worker with a job and tools</a:t>
            </a:r>
            <a:endParaRPr lang="en-US" sz="1600" dirty="0"/>
          </a:p>
        </p:txBody>
      </p:sp>
      <p:sp>
        <p:nvSpPr>
          <p:cNvPr id="9" name="Skill icon"/>
          <p:cNvSpPr/>
          <p:nvPr/>
        </p:nvSpPr>
        <p:spPr>
          <a:xfrm>
            <a:off x="8183880" y="2377440"/>
            <a:ext cx="402336" cy="402336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511" y="2486071"/>
            <a:ext cx="185075" cy="18507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0" y="234086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Skill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 procedure binder on the shelf</a:t>
            </a:r>
            <a:endParaRPr lang="en-US" sz="1600" dirty="0"/>
          </a:p>
        </p:txBody>
      </p:sp>
      <p:sp>
        <p:nvSpPr>
          <p:cNvPr id="12" name="Subagent icon"/>
          <p:cNvSpPr/>
          <p:nvPr/>
        </p:nvSpPr>
        <p:spPr>
          <a:xfrm>
            <a:off x="8183880" y="2980944"/>
            <a:ext cx="402336" cy="402336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511" y="3089575"/>
            <a:ext cx="185075" cy="18507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686800" y="294436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Subagent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 helper in its own room</a:t>
            </a:r>
            <a:endParaRPr lang="en-US" sz="1600" dirty="0"/>
          </a:p>
        </p:txBody>
      </p:sp>
      <p:sp>
        <p:nvSpPr>
          <p:cNvPr id="15" name="Orchestrator icon"/>
          <p:cNvSpPr/>
          <p:nvPr/>
        </p:nvSpPr>
        <p:spPr>
          <a:xfrm>
            <a:off x="8183880" y="3584448"/>
            <a:ext cx="402336" cy="402336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2511" y="3693079"/>
            <a:ext cx="185075" cy="18507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686800" y="354787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Orchestrator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The lead: assigns and decides next</a:t>
            </a:r>
            <a:endParaRPr lang="en-US" sz="1600" dirty="0"/>
          </a:p>
        </p:txBody>
      </p:sp>
      <p:sp>
        <p:nvSpPr>
          <p:cNvPr id="18" name="Loop icon"/>
          <p:cNvSpPr/>
          <p:nvPr/>
        </p:nvSpPr>
        <p:spPr>
          <a:xfrm>
            <a:off x="8183880" y="4187952"/>
            <a:ext cx="402336" cy="402336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2511" y="4296583"/>
            <a:ext cx="185075" cy="18507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86800" y="41513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Loop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Repeats until the board is green</a:t>
            </a:r>
            <a:endParaRPr lang="en-US" sz="1600" dirty="0"/>
          </a:p>
        </p:txBody>
      </p:sp>
      <p:sp>
        <p:nvSpPr>
          <p:cNvPr id="21" name="Hook icon"/>
          <p:cNvSpPr/>
          <p:nvPr/>
        </p:nvSpPr>
        <p:spPr>
          <a:xfrm>
            <a:off x="8183880" y="4791456"/>
            <a:ext cx="402336" cy="402336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2511" y="4900087"/>
            <a:ext cx="185075" cy="18507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686800" y="475488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Hook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 gate, not a person</a:t>
            </a:r>
            <a:endParaRPr lang="en-US" sz="1600" dirty="0"/>
          </a:p>
        </p:txBody>
      </p:sp>
      <p:sp>
        <p:nvSpPr>
          <p:cNvPr id="24" name="You icon"/>
          <p:cNvSpPr/>
          <p:nvPr/>
        </p:nvSpPr>
        <p:spPr>
          <a:xfrm>
            <a:off x="8183880" y="5394960"/>
            <a:ext cx="402336" cy="402336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2511" y="5503591"/>
            <a:ext cx="185075" cy="18507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686800" y="535838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You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On the loop: watch and step in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WHAT CHANGED FOR ME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my ticket to the whole picture</a:t>
            </a:r>
            <a:endParaRPr lang="en-US" sz="3600" dirty="0"/>
          </a:p>
        </p:txBody>
      </p:sp>
      <p:pic>
        <p:nvPicPr>
          <p:cNvPr id="4" name="Widening scope rings" descr="art3/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438912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3942893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My ticket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91145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42864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945843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THEN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NOW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Look at my ticket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7532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See the whole picture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Docs ate my time</a:t>
            </a:r>
            <a:endParaRPr lang="en-US" sz="15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0906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7532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Docs take minutes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394960" y="37581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Search, read, compare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877056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75320" y="37581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Ask, then verify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394960" y="4544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Write most of the code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466344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275320" y="4544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Specify, review, own the result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6"/>
                </a:solidFill>
              </a:rPr>
              <a:t>THE QUIET COST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we’re slowly losing</a:t>
            </a:r>
            <a:endParaRPr lang="en-US" sz="3600" dirty="0"/>
          </a:p>
        </p:txBody>
      </p:sp>
      <p:pic>
        <p:nvPicPr>
          <p:cNvPr id="4" name="Dissolving figure" descr="art3/disso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00200"/>
            <a:ext cx="4572000" cy="4572000"/>
          </a:xfrm>
          <a:prstGeom prst="rect">
            <a:avLst/>
          </a:prstGeom>
        </p:spPr>
      </p:pic>
      <p:sp>
        <p:nvSpPr>
          <p:cNvPr id="5" name="Loss 1 icon"/>
          <p:cNvSpPr/>
          <p:nvPr/>
        </p:nvSpPr>
        <p:spPr>
          <a:xfrm>
            <a:off x="685800" y="1874520"/>
            <a:ext cx="603504" cy="603504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46" y="2037466"/>
            <a:ext cx="277612" cy="2776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837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review muscle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2240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We read less carefully, so we catch less</a:t>
            </a:r>
            <a:endParaRPr lang="en-US" sz="1500" dirty="0"/>
          </a:p>
        </p:txBody>
      </p:sp>
      <p:sp>
        <p:nvSpPr>
          <p:cNvPr id="9" name="Loss 2 icon"/>
          <p:cNvSpPr/>
          <p:nvPr/>
        </p:nvSpPr>
        <p:spPr>
          <a:xfrm>
            <a:off x="685800" y="2926080"/>
            <a:ext cx="603504" cy="603504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" y="3089026"/>
            <a:ext cx="277612" cy="2776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28895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research instinct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508760" y="32918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Ask and accept, instead of dig and compare</a:t>
            </a:r>
            <a:endParaRPr lang="en-US" sz="1500" dirty="0"/>
          </a:p>
        </p:txBody>
      </p:sp>
      <p:sp>
        <p:nvSpPr>
          <p:cNvPr id="13" name="Loss 3 icon"/>
          <p:cNvSpPr/>
          <p:nvPr/>
        </p:nvSpPr>
        <p:spPr>
          <a:xfrm>
            <a:off x="685800" y="3977640"/>
            <a:ext cx="603504" cy="603504"/>
          </a:xfrm>
          <a:prstGeom prst="ellipse">
            <a:avLst/>
          </a:prstGeom>
          <a:solidFill>
            <a:srgbClr val="1F263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" y="4140586"/>
            <a:ext cx="277612" cy="2776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394106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Details and the mental model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1508760" y="43434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We know what the code does, not why</a:t>
            </a:r>
            <a:endParaRPr lang="en-US" sz="1500" dirty="0"/>
          </a:p>
        </p:txBody>
      </p:sp>
      <p:sp>
        <p:nvSpPr>
          <p:cNvPr id="17" name="Takeaway"/>
          <p:cNvSpPr/>
          <p:nvPr/>
        </p:nvSpPr>
        <p:spPr>
          <a:xfrm>
            <a:off x="685800" y="5166360"/>
            <a:ext cx="6126480" cy="640080"/>
          </a:xfrm>
          <a:prstGeom prst="roundRect">
            <a:avLst>
              <a:gd name="adj" fmla="val 50000"/>
            </a:avLst>
          </a:prstGeom>
          <a:solidFill>
            <a:schemeClr val="accent6">
              <a:alpha val="12000"/>
            </a:schemeClr>
          </a:solidFill>
          <a:ln w="15875">
            <a:solidFill>
              <a:srgbClr val="FF5C8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2"/>
          <p:cNvSpPr txBox="1"/>
          <p:nvPr/>
        </p:nvSpPr>
        <p:spPr>
          <a:xfrm>
            <a:off x="685800" y="51663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6"/>
                </a:solidFill>
              </a:rPr>
              <a:t>Not a reason to stop. A reason to use AI consciously.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6"/>
                </a:solidFill>
              </a:rPr>
              <a:t>HITTING THE WALL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“Done” was only the tip</a:t>
            </a:r>
            <a:endParaRPr lang="en-US" sz="3600" dirty="0"/>
          </a:p>
        </p:txBody>
      </p:sp>
      <p:pic>
        <p:nvPicPr>
          <p:cNvPr id="4" name="Iceberg" descr="art3/icebe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5824728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7830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AI amplifies your expertise, and your gaps.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47619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AI says: “Done.”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337230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technology I didn't know deeply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90997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An approach I couldn't judge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4447642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Questions I didn't know to ask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498530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Reviews we rushed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547817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Problems only manual tests caught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6"/>
                </a:solidFill>
              </a:rPr>
              <a:t>STAYING CLOSE TO THE DETAILS</a:t>
            </a:r>
            <a:endParaRPr lang="en-US" sz="1300" dirty="0"/>
          </a:p>
        </p:txBody>
      </p:sp>
      <p:pic>
        <p:nvPicPr>
          <p:cNvPr id="3" name="Airplane on autopilot" descr="art3/aut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7269480" cy="40890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9601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Autopilot flies the route.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You still own the landing.</a:t>
            </a:r>
            <a:endParaRPr lang="en-US" sz="3800" dirty="0"/>
          </a:p>
        </p:txBody>
      </p:sp>
      <p:sp>
        <p:nvSpPr>
          <p:cNvPr id="5" name="Habit 1"/>
          <p:cNvSpPr/>
          <p:nvPr/>
        </p:nvSpPr>
        <p:spPr>
          <a:xfrm>
            <a:off x="685800" y="4160520"/>
            <a:ext cx="3977640" cy="457200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 w="12700">
            <a:solidFill>
              <a:srgbClr val="4CC9F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 txBox="1"/>
          <p:nvPr/>
        </p:nvSpPr>
        <p:spPr>
          <a:xfrm>
            <a:off x="914400" y="4160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Read every diff you merge</a:t>
            </a:r>
            <a:endParaRPr lang="en-US" sz="1500" dirty="0"/>
          </a:p>
        </p:txBody>
      </p:sp>
      <p:sp>
        <p:nvSpPr>
          <p:cNvPr id="7" name="Habit 2"/>
          <p:cNvSpPr/>
          <p:nvPr/>
        </p:nvSpPr>
        <p:spPr>
          <a:xfrm>
            <a:off x="685800" y="4800600"/>
            <a:ext cx="3977640" cy="457200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8B7C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 txBox="1"/>
          <p:nvPr/>
        </p:nvSpPr>
        <p:spPr>
          <a:xfrm>
            <a:off x="914400" y="48006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Explain it back in your own words</a:t>
            </a:r>
            <a:endParaRPr lang="en-US" sz="1500" dirty="0"/>
          </a:p>
        </p:txBody>
      </p:sp>
      <p:sp>
        <p:nvSpPr>
          <p:cNvPr id="9" name="Habit 3"/>
          <p:cNvSpPr/>
          <p:nvPr/>
        </p:nvSpPr>
        <p:spPr>
          <a:xfrm>
            <a:off x="685800" y="5440680"/>
            <a:ext cx="3977640" cy="457200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3DDC9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 txBox="1"/>
          <p:nvPr/>
        </p:nvSpPr>
        <p:spPr>
          <a:xfrm>
            <a:off x="914400" y="54406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Write the core yourself, sometimes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3"/>
                </a:solidFill>
              </a:rPr>
              <a:t>THE INDUSTRY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Who sets the pace?</a:t>
            </a:r>
            <a:endParaRPr lang="en-US" sz="3600" dirty="0"/>
          </a:p>
        </p:txBody>
      </p:sp>
      <p:pic>
        <p:nvPicPr>
          <p:cNvPr id="4" name="Speedometer and compass" descr="art3/d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603504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892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Speed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set by the market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4892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Direction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chosen by you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WHAT THE RACE LOOKS LIKE</a:t>
            </a:r>
            <a:endParaRPr lang="en-US" sz="1200" dirty="0"/>
          </a:p>
        </p:txBody>
      </p:sp>
      <p:sp>
        <p:nvSpPr>
          <p:cNvPr id="8" name="Race item 1"/>
          <p:cNvSpPr/>
          <p:nvPr/>
        </p:nvSpPr>
        <p:spPr>
          <a:xfrm>
            <a:off x="7589520" y="2240280"/>
            <a:ext cx="3931920" cy="502920"/>
          </a:xfrm>
          <a:prstGeom prst="roundRect">
            <a:avLst>
              <a:gd name="adj" fmla="val 49091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781812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Bold promises</a:t>
            </a:r>
            <a:endParaRPr lang="en-US" sz="1500" dirty="0"/>
          </a:p>
        </p:txBody>
      </p:sp>
      <p:sp>
        <p:nvSpPr>
          <p:cNvPr id="10" name="Race item 2"/>
          <p:cNvSpPr/>
          <p:nvPr/>
        </p:nvSpPr>
        <p:spPr>
          <a:xfrm>
            <a:off x="7589520" y="2898648"/>
            <a:ext cx="3931920" cy="502920"/>
          </a:xfrm>
          <a:prstGeom prst="roundRect">
            <a:avLst>
              <a:gd name="adj" fmla="val 49091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8"/>
          <p:cNvSpPr txBox="1"/>
          <p:nvPr/>
        </p:nvSpPr>
        <p:spPr>
          <a:xfrm>
            <a:off x="7818120" y="2898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Vanity metrics</a:t>
            </a:r>
            <a:endParaRPr lang="en-US" sz="1500" dirty="0"/>
          </a:p>
        </p:txBody>
      </p:sp>
      <p:sp>
        <p:nvSpPr>
          <p:cNvPr id="12" name="Race item 3"/>
          <p:cNvSpPr/>
          <p:nvPr/>
        </p:nvSpPr>
        <p:spPr>
          <a:xfrm>
            <a:off x="7589520" y="3557016"/>
            <a:ext cx="3931920" cy="502920"/>
          </a:xfrm>
          <a:prstGeom prst="roundRect">
            <a:avLst>
              <a:gd name="adj" fmla="val 49091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 txBox="1"/>
          <p:nvPr/>
        </p:nvSpPr>
        <p:spPr>
          <a:xfrm>
            <a:off x="7818120" y="35570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Hiring framed as AI wins</a:t>
            </a:r>
            <a:endParaRPr lang="en-US" sz="1500" dirty="0"/>
          </a:p>
        </p:txBody>
      </p:sp>
      <p:sp>
        <p:nvSpPr>
          <p:cNvPr id="14" name="Race item 4"/>
          <p:cNvSpPr/>
          <p:nvPr/>
        </p:nvSpPr>
        <p:spPr>
          <a:xfrm>
            <a:off x="7589520" y="4215384"/>
            <a:ext cx="3931920" cy="502920"/>
          </a:xfrm>
          <a:prstGeom prst="roundRect">
            <a:avLst>
              <a:gd name="adj" fmla="val 49091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2"/>
          <p:cNvSpPr txBox="1"/>
          <p:nvPr/>
        </p:nvSpPr>
        <p:spPr>
          <a:xfrm>
            <a:off x="7818120" y="4215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new must-have tool every month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market sets the speed. You choose the direction.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3"/>
                </a:solidFill>
              </a:rPr>
              <a:t>OLD ROLES, NEW ROLES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Roles are shifting too</a:t>
            </a:r>
            <a:endParaRPr lang="en-US" sz="3600" dirty="0"/>
          </a:p>
        </p:txBody>
      </p:sp>
      <p:pic>
        <p:nvPicPr>
          <p:cNvPr id="4" name="Illustrative role trends" descr="art3/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394960" cy="38535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46077" y="220697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/>
                </a:solidFill>
              </a:rPr>
              <a:t>Routine coding roles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156025" y="2050215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Prompt Engineer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462310" y="189607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3"/>
                </a:solidFill>
              </a:rPr>
              <a:t>New AI roles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8274" y="5232001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Then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2267" y="5232001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2"/>
                </a:solidFill>
              </a:rPr>
              <a:t>Now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68234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</a:rPr>
              <a:t>Illustrative trends, not data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GROWING</a:t>
            </a:r>
            <a:endParaRPr lang="en-US" sz="1200" dirty="0"/>
          </a:p>
        </p:txBody>
      </p:sp>
      <p:sp>
        <p:nvSpPr>
          <p:cNvPr id="12" name="Growing role 1"/>
          <p:cNvSpPr/>
          <p:nvPr/>
        </p:nvSpPr>
        <p:spPr>
          <a:xfrm>
            <a:off x="6309360" y="2112264"/>
            <a:ext cx="420624" cy="420624"/>
          </a:xfrm>
          <a:prstGeom prst="ellipse">
            <a:avLst/>
          </a:prstGeom>
          <a:solidFill>
            <a:srgbClr val="FF6B3D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928" y="2225832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0" y="2075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Forward Deployed Engineer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Works with customers until the product truly fits</a:t>
            </a:r>
            <a:endParaRPr lang="en-US" sz="1600" dirty="0"/>
          </a:p>
        </p:txBody>
      </p:sp>
      <p:sp>
        <p:nvSpPr>
          <p:cNvPr id="15" name="Growing role 2"/>
          <p:cNvSpPr/>
          <p:nvPr/>
        </p:nvSpPr>
        <p:spPr>
          <a:xfrm>
            <a:off x="6309360" y="2715768"/>
            <a:ext cx="420624" cy="420624"/>
          </a:xfrm>
          <a:prstGeom prst="ellipse">
            <a:avLst/>
          </a:prstGeom>
          <a:solidFill>
            <a:srgbClr val="8B7C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928" y="2829336"/>
            <a:ext cx="193487" cy="1934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26791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Engineer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Builds product features on top of models</a:t>
            </a:r>
            <a:endParaRPr lang="en-US" sz="1600" dirty="0"/>
          </a:p>
        </p:txBody>
      </p:sp>
      <p:sp>
        <p:nvSpPr>
          <p:cNvPr id="18" name="Growing role 3"/>
          <p:cNvSpPr/>
          <p:nvPr/>
        </p:nvSpPr>
        <p:spPr>
          <a:xfrm>
            <a:off x="6309360" y="3319272"/>
            <a:ext cx="420624" cy="420624"/>
          </a:xfrm>
          <a:prstGeom prst="ellipse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928" y="3432840"/>
            <a:ext cx="193487" cy="19348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0" y="32826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 Platform Engineer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Builds the company’s harness: tools, guardrails</a:t>
            </a:r>
            <a:endParaRPr lang="en-US" sz="1600" dirty="0"/>
          </a:p>
        </p:txBody>
      </p:sp>
      <p:sp>
        <p:nvSpPr>
          <p:cNvPr id="21" name="Growing role 4"/>
          <p:cNvSpPr/>
          <p:nvPr/>
        </p:nvSpPr>
        <p:spPr>
          <a:xfrm>
            <a:off x="6309360" y="3922776"/>
            <a:ext cx="420624" cy="420624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928" y="4036344"/>
            <a:ext cx="193487" cy="1934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5800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Evals &amp; Quality Engineer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Tests systems that never answer the same way twice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30936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CAME AND WENT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6309360" y="48280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Prompt Engineer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Now a skill every role needs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309360" y="5468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UNDER PRESSURE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309360" y="57424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Routine coding, repetitive manual testing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3"/>
                </a:solidFill>
              </a:rPr>
              <a:t>WHAT SETS PEOPLE APART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The bar is rising. You can train for it.</a:t>
            </a:r>
            <a:endParaRPr lang="en-US" sz="3600" dirty="0"/>
          </a:p>
        </p:txBody>
      </p:sp>
      <p:sp>
        <p:nvSpPr>
          <p:cNvPr id="4" name="Trait Judgment"/>
          <p:cNvSpPr/>
          <p:nvPr/>
        </p:nvSpPr>
        <p:spPr>
          <a:xfrm>
            <a:off x="685800" y="1783080"/>
            <a:ext cx="2560320" cy="342900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12700">
            <a:solidFill>
              <a:srgbClr val="8B7C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Judgment icon"/>
          <p:cNvSpPr/>
          <p:nvPr/>
        </p:nvSpPr>
        <p:spPr>
          <a:xfrm>
            <a:off x="914400" y="201168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46" y="2174626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157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Judgment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Knowing what’s right, not just what runs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840480"/>
            <a:ext cx="2103120" cy="0"/>
          </a:xfrm>
          <a:prstGeom prst="line">
            <a:avLst/>
          </a:prstGeom>
          <a:noFill/>
          <a:ln w="12700">
            <a:solidFill>
              <a:srgbClr val="8B7C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914400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TRAIN IT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Ask why. Compare options. Decide, then review the decision.</a:t>
            </a:r>
            <a:endParaRPr lang="en-US" sz="1600" dirty="0"/>
          </a:p>
        </p:txBody>
      </p:sp>
      <p:sp>
        <p:nvSpPr>
          <p:cNvPr id="10" name="Trait Fast learning"/>
          <p:cNvSpPr/>
          <p:nvPr/>
        </p:nvSpPr>
        <p:spPr>
          <a:xfrm>
            <a:off x="3429000" y="1783080"/>
            <a:ext cx="2560320" cy="3429000"/>
          </a:xfrm>
          <a:prstGeom prst="roundRect">
            <a:avLst>
              <a:gd name="adj" fmla="val 5714"/>
            </a:avLst>
          </a:prstGeom>
          <a:solidFill>
            <a:schemeClr val="accent4">
              <a:alpha val="12000"/>
            </a:schemeClr>
          </a:solidFill>
          <a:ln w="12700">
            <a:solidFill>
              <a:srgbClr val="4CC9F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Fast learning icon"/>
          <p:cNvSpPr/>
          <p:nvPr/>
        </p:nvSpPr>
        <p:spPr>
          <a:xfrm>
            <a:off x="3657600" y="2011680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546" y="2174626"/>
            <a:ext cx="277612" cy="2776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7157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Fast learning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Becoming useful in the unfamiliar, quickly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657600" y="3840480"/>
            <a:ext cx="2103120" cy="0"/>
          </a:xfrm>
          <a:prstGeom prst="line">
            <a:avLst/>
          </a:prstGeom>
          <a:noFill/>
          <a:ln w="12700">
            <a:solidFill>
              <a:srgbClr val="4CC9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1"/>
          <p:cNvSpPr txBox="1"/>
          <p:nvPr/>
        </p:nvSpPr>
        <p:spPr>
          <a:xfrm>
            <a:off x="3657600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4"/>
                </a:solidFill>
              </a:rPr>
              <a:t>TRAIN IT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Use AI as a tutor. Go one layer deeper every project.</a:t>
            </a:r>
            <a:endParaRPr lang="en-US" sz="1600" dirty="0"/>
          </a:p>
        </p:txBody>
      </p:sp>
      <p:sp>
        <p:nvSpPr>
          <p:cNvPr id="16" name="Trait Communication"/>
          <p:cNvSpPr/>
          <p:nvPr/>
        </p:nvSpPr>
        <p:spPr>
          <a:xfrm>
            <a:off x="6172200" y="1783080"/>
            <a:ext cx="2560320" cy="3429000"/>
          </a:xfrm>
          <a:prstGeom prst="roundRect">
            <a:avLst>
              <a:gd name="adj" fmla="val 5714"/>
            </a:avLst>
          </a:prstGeom>
          <a:solidFill>
            <a:schemeClr val="accent5">
              <a:alpha val="12000"/>
            </a:schemeClr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Communication icon"/>
          <p:cNvSpPr/>
          <p:nvPr/>
        </p:nvSpPr>
        <p:spPr>
          <a:xfrm>
            <a:off x="6400800" y="2011680"/>
            <a:ext cx="603504" cy="603504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746" y="2174626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7157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Communication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Turning your thinking into clear words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400800" y="3840480"/>
            <a:ext cx="2103120" cy="0"/>
          </a:xfrm>
          <a:prstGeom prst="line">
            <a:avLst/>
          </a:prstGeom>
          <a:noFill/>
          <a:ln w="12700">
            <a:solidFill>
              <a:srgbClr val="FFC85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6"/>
          <p:cNvSpPr txBox="1"/>
          <p:nvPr/>
        </p:nvSpPr>
        <p:spPr>
          <a:xfrm>
            <a:off x="6400800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5"/>
                </a:solidFill>
              </a:rPr>
              <a:t>TRAIN IT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Write specs and READMEs. Present your work, even to two friends.</a:t>
            </a:r>
            <a:endParaRPr lang="en-US" sz="1600" dirty="0"/>
          </a:p>
        </p:txBody>
      </p:sp>
      <p:sp>
        <p:nvSpPr>
          <p:cNvPr id="22" name="Trait Ownership"/>
          <p:cNvSpPr/>
          <p:nvPr/>
        </p:nvSpPr>
        <p:spPr>
          <a:xfrm>
            <a:off x="8915400" y="1783080"/>
            <a:ext cx="2560320" cy="3429000"/>
          </a:xfrm>
          <a:prstGeom prst="roundRect">
            <a:avLst>
              <a:gd name="adj" fmla="val 5714"/>
            </a:avLst>
          </a:prstGeom>
          <a:solidFill>
            <a:schemeClr val="accent6">
              <a:alpha val="12000"/>
            </a:schemeClr>
          </a:solidFill>
          <a:ln w="12700">
            <a:solidFill>
              <a:srgbClr val="FF5C8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Ownership icon"/>
          <p:cNvSpPr/>
          <p:nvPr/>
        </p:nvSpPr>
        <p:spPr>
          <a:xfrm>
            <a:off x="9144000" y="2011680"/>
            <a:ext cx="603504" cy="603504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6946" y="2174626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4000" y="27157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Ownership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Owning the result, not just the task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144000" y="3840480"/>
            <a:ext cx="2103120" cy="0"/>
          </a:xfrm>
          <a:prstGeom prst="line">
            <a:avLst/>
          </a:prstGeom>
          <a:noFill/>
          <a:ln w="12700">
            <a:solidFill>
              <a:srgbClr val="FF5C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1"/>
          <p:cNvSpPr txBox="1"/>
          <p:nvPr/>
        </p:nvSpPr>
        <p:spPr>
          <a:xfrm>
            <a:off x="9144000" y="3931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TRAIN IT</a:t>
            </a:r>
            <a:endParaRPr lang="en-US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Ship to real users. Fix what breaks. Follow up unasked.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5376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THE SKILLS UNDERNEATH</a:t>
            </a:r>
            <a:endParaRPr lang="en-US" sz="1200" dirty="0"/>
          </a:p>
        </p:txBody>
      </p:sp>
      <p:sp>
        <p:nvSpPr>
          <p:cNvPr id="29" name="Skill chip 1"/>
          <p:cNvSpPr/>
          <p:nvPr/>
        </p:nvSpPr>
        <p:spPr>
          <a:xfrm>
            <a:off x="685800" y="5669280"/>
            <a:ext cx="1700784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4"/>
          <p:cNvSpPr txBox="1"/>
          <p:nvPr/>
        </p:nvSpPr>
        <p:spPr>
          <a:xfrm>
            <a:off x="685800" y="56692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Fundamentals</a:t>
            </a:r>
            <a:endParaRPr lang="en-US" sz="1300" dirty="0"/>
          </a:p>
        </p:txBody>
      </p:sp>
      <p:sp>
        <p:nvSpPr>
          <p:cNvPr id="31" name="Skill chip 2"/>
          <p:cNvSpPr/>
          <p:nvPr/>
        </p:nvSpPr>
        <p:spPr>
          <a:xfrm>
            <a:off x="2505456" y="5669280"/>
            <a:ext cx="1700784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 26"/>
          <p:cNvSpPr txBox="1"/>
          <p:nvPr/>
        </p:nvSpPr>
        <p:spPr>
          <a:xfrm>
            <a:off x="2505456" y="56692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System design</a:t>
            </a:r>
            <a:endParaRPr lang="en-US" sz="1300" dirty="0"/>
          </a:p>
        </p:txBody>
      </p:sp>
      <p:sp>
        <p:nvSpPr>
          <p:cNvPr id="33" name="Skill chip 3"/>
          <p:cNvSpPr/>
          <p:nvPr/>
        </p:nvSpPr>
        <p:spPr>
          <a:xfrm>
            <a:off x="4325112" y="5669280"/>
            <a:ext cx="1700784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Text 28"/>
          <p:cNvSpPr txBox="1"/>
          <p:nvPr/>
        </p:nvSpPr>
        <p:spPr>
          <a:xfrm>
            <a:off x="4325112" y="56692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Reading code</a:t>
            </a:r>
            <a:endParaRPr lang="en-US" sz="1300" dirty="0"/>
          </a:p>
        </p:txBody>
      </p:sp>
      <p:sp>
        <p:nvSpPr>
          <p:cNvPr id="35" name="Skill chip 4"/>
          <p:cNvSpPr/>
          <p:nvPr/>
        </p:nvSpPr>
        <p:spPr>
          <a:xfrm>
            <a:off x="6144768" y="5669280"/>
            <a:ext cx="1700784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6" name="Text 30"/>
          <p:cNvSpPr txBox="1"/>
          <p:nvPr/>
        </p:nvSpPr>
        <p:spPr>
          <a:xfrm>
            <a:off x="6144768" y="56692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Clear writing</a:t>
            </a:r>
            <a:endParaRPr lang="en-US" sz="1300" dirty="0"/>
          </a:p>
        </p:txBody>
      </p:sp>
      <p:sp>
        <p:nvSpPr>
          <p:cNvPr id="37" name="Skill chip 5"/>
          <p:cNvSpPr/>
          <p:nvPr/>
        </p:nvSpPr>
        <p:spPr>
          <a:xfrm>
            <a:off x="7964424" y="5669280"/>
            <a:ext cx="1700784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Text 32"/>
          <p:cNvSpPr txBox="1"/>
          <p:nvPr/>
        </p:nvSpPr>
        <p:spPr>
          <a:xfrm>
            <a:off x="7964424" y="56692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Verification</a:t>
            </a:r>
            <a:endParaRPr lang="en-US" sz="1300" dirty="0"/>
          </a:p>
        </p:txBody>
      </p:sp>
      <p:sp>
        <p:nvSpPr>
          <p:cNvPr id="39" name="Skill chip 6"/>
          <p:cNvSpPr/>
          <p:nvPr/>
        </p:nvSpPr>
        <p:spPr>
          <a:xfrm>
            <a:off x="9784080" y="5669280"/>
            <a:ext cx="1700784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3DD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Text 34"/>
          <p:cNvSpPr txBox="1"/>
          <p:nvPr/>
        </p:nvSpPr>
        <p:spPr>
          <a:xfrm>
            <a:off x="9784080" y="56692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Domain sense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3"/>
                </a:solidFill>
              </a:rPr>
              <a:t>YOUR PLAYBOOK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Six moves, starting tomorrow</a:t>
            </a:r>
            <a:endParaRPr lang="en-US" sz="3600" dirty="0"/>
          </a:p>
        </p:txBody>
      </p:sp>
      <p:sp>
        <p:nvSpPr>
          <p:cNvPr id="4" name="Divider"/>
          <p:cNvSpPr/>
          <p:nvPr/>
        </p:nvSpPr>
        <p:spPr>
          <a:xfrm>
            <a:off x="685800" y="3703320"/>
            <a:ext cx="1083564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134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Write the spec before the prompt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One page: the problem, the user, and how you’ll know it’s done.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3134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Ask for options before code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“Give me 2–3 approaches with trade-offs.” You choose, then it builds.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23134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Review like it’s a stranger’s PR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Read every diff. Explain each change. Write one test yourself.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04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3708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Start your own mini-harness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Rules, a spec template, a checklist. Begin with Think → Build.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05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43708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Go one layer deeper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Read the official docs. Debug one bug a week without AI.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06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3708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Get real users before you graduate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Used beats sellable. Real users find what demos hide.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8064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Use AI well, and be able to explain what it built.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3"/>
                </a:solidFill>
              </a:rPr>
              <a:t>TAKE IT HOME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Think → Build: your starter kit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2763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2"/>
                </a:solidFill>
              </a:rPr>
              <a:t>Two skills that turn an idea into tested code, with you deciding at every step.</a:t>
            </a:r>
            <a:endParaRPr lang="en-US" sz="1500" dirty="0"/>
          </a:p>
        </p:txBody>
      </p:sp>
      <p:sp>
        <p:nvSpPr>
          <p:cNvPr id="5" name="Flow line"/>
          <p:cNvSpPr/>
          <p:nvPr/>
        </p:nvSpPr>
        <p:spPr>
          <a:xfrm>
            <a:off x="2011680" y="2468880"/>
            <a:ext cx="0" cy="3108960"/>
          </a:xfrm>
          <a:prstGeom prst="line">
            <a:avLst/>
          </a:prstGeom>
          <a:noFill/>
          <a:ln w="25400">
            <a:solidFill>
              <a:srgbClr val="2A324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Flow step 1"/>
          <p:cNvSpPr/>
          <p:nvPr/>
        </p:nvSpPr>
        <p:spPr>
          <a:xfrm>
            <a:off x="685800" y="22860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2A324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2"/>
                </a:solidFill>
              </a:rPr>
              <a:t>idea</a:t>
            </a:r>
            <a:endParaRPr lang="en-US" sz="1400" dirty="0"/>
          </a:p>
        </p:txBody>
      </p:sp>
      <p:sp>
        <p:nvSpPr>
          <p:cNvPr id="8" name="Flow step 2"/>
          <p:cNvSpPr/>
          <p:nvPr/>
        </p:nvSpPr>
        <p:spPr>
          <a:xfrm>
            <a:off x="685800" y="2798064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 txBox="1"/>
          <p:nvPr/>
        </p:nvSpPr>
        <p:spPr>
          <a:xfrm>
            <a:off x="685800" y="2798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/clarify</a:t>
            </a:r>
            <a:endParaRPr lang="en-US" sz="1400" dirty="0"/>
          </a:p>
        </p:txBody>
      </p:sp>
      <p:sp>
        <p:nvSpPr>
          <p:cNvPr id="10" name="Flow step 3"/>
          <p:cNvSpPr/>
          <p:nvPr/>
        </p:nvSpPr>
        <p:spPr>
          <a:xfrm>
            <a:off x="685800" y="3310128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685800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specs/&lt;name&gt;.md</a:t>
            </a:r>
            <a:endParaRPr lang="en-US" sz="1400" dirty="0"/>
          </a:p>
        </p:txBody>
      </p:sp>
      <p:sp>
        <p:nvSpPr>
          <p:cNvPr id="12" name="Flow step 4"/>
          <p:cNvSpPr/>
          <p:nvPr/>
        </p:nvSpPr>
        <p:spPr>
          <a:xfrm>
            <a:off x="685800" y="3822192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 txBox="1"/>
          <p:nvPr/>
        </p:nvSpPr>
        <p:spPr>
          <a:xfrm>
            <a:off x="685800" y="3822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 read it</a:t>
            </a:r>
            <a:endParaRPr lang="en-US" sz="1400" dirty="0"/>
          </a:p>
        </p:txBody>
      </p:sp>
      <p:sp>
        <p:nvSpPr>
          <p:cNvPr id="14" name="Flow step 5"/>
          <p:cNvSpPr/>
          <p:nvPr/>
        </p:nvSpPr>
        <p:spPr>
          <a:xfrm>
            <a:off x="685800" y="4334256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 txBox="1"/>
          <p:nvPr/>
        </p:nvSpPr>
        <p:spPr>
          <a:xfrm>
            <a:off x="685800" y="43342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/build</a:t>
            </a:r>
            <a:endParaRPr lang="en-US" sz="1400" dirty="0"/>
          </a:p>
        </p:txBody>
      </p:sp>
      <p:sp>
        <p:nvSpPr>
          <p:cNvPr id="16" name="Flow step 6"/>
          <p:cNvSpPr/>
          <p:nvPr/>
        </p:nvSpPr>
        <p:spPr>
          <a:xfrm>
            <a:off x="685800" y="484632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 txBox="1"/>
          <p:nvPr/>
        </p:nvSpPr>
        <p:spPr>
          <a:xfrm>
            <a:off x="685800" y="4846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1400" dirty="0"/>
          </a:p>
        </p:txBody>
      </p:sp>
      <p:sp>
        <p:nvSpPr>
          <p:cNvPr id="18" name="Flow step 7"/>
          <p:cNvSpPr/>
          <p:nvPr/>
        </p:nvSpPr>
        <p:spPr>
          <a:xfrm>
            <a:off x="685800" y="5358384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 txBox="1"/>
          <p:nvPr/>
        </p:nvSpPr>
        <p:spPr>
          <a:xfrm>
            <a:off x="685800" y="53583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 check 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WHAT’S INSIDE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26060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chemeClr val="accent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PROJECT.md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Your stack and house rules (not your idea)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322783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/clarify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Asks until your idea is a clear spec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38496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/build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Builds test-first, then reports what’s done and what isn’t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467258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clicker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An agent that clicks through your app in a real browser</a:t>
            </a:r>
            <a:endParaRPr lang="en-US" sz="1600" dirty="0"/>
          </a:p>
        </p:txBody>
      </p:sp>
      <p:sp>
        <p:nvSpPr>
          <p:cNvPr id="25" name="Optional tag"/>
          <p:cNvSpPr/>
          <p:nvPr/>
        </p:nvSpPr>
        <p:spPr>
          <a:xfrm>
            <a:off x="4681728" y="4700016"/>
            <a:ext cx="804672" cy="2194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9AA3B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 txBox="1"/>
          <p:nvPr/>
        </p:nvSpPr>
        <p:spPr>
          <a:xfrm>
            <a:off x="4681728" y="470001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5486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WORKS WITH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5733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GitHub Copilot · Claude Code · or paste a skill into any AI chat</a:t>
            </a:r>
            <a:endParaRPr lang="en-US" sz="1300" dirty="0"/>
          </a:p>
        </p:txBody>
      </p:sp>
      <p:sp>
        <p:nvSpPr>
          <p:cNvPr id="29" name="QR card"/>
          <p:cNvSpPr/>
          <p:nvPr/>
        </p:nvSpPr>
        <p:spPr>
          <a:xfrm>
            <a:off x="7818120" y="178308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0" name="QR code to github.com/snargul/think-build" descr="art3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20240"/>
            <a:ext cx="3200400" cy="320040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818120" y="51389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Scan to get the kit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260"/>
                </a:solidFill>
              </a:rPr>
              <a:t>github.com/snargul/think-build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THANK YOU FOR LISTENNING!</a:t>
            </a:r>
            <a:endParaRPr lang="en-US" sz="1300" dirty="0"/>
          </a:p>
        </p:txBody>
      </p:sp>
      <p:sp>
        <p:nvSpPr>
          <p:cNvPr id="3" name="QR card"/>
          <p:cNvSpPr/>
          <p:nvPr/>
        </p:nvSpPr>
        <p:spPr>
          <a:xfrm>
            <a:off x="9372600" y="685800"/>
            <a:ext cx="2240280" cy="2697480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4" name="QR code to the starter kit" descr="art3/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777240"/>
            <a:ext cx="1965960" cy="1965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7260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Think → Build kit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7160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</a:rPr>
              <a:t>AI writes code.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Engineers own outcomes.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THREE THINGS TO REMEMBER</a:t>
            </a:r>
            <a:endParaRPr lang="en-US" sz="1200" dirty="0"/>
          </a:p>
        </p:txBody>
      </p:sp>
      <p:sp>
        <p:nvSpPr>
          <p:cNvPr id="8" name="Takeaway 1"/>
          <p:cNvSpPr/>
          <p:nvPr/>
        </p:nvSpPr>
        <p:spPr>
          <a:xfrm>
            <a:off x="685800" y="4343400"/>
            <a:ext cx="3474720" cy="56692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8B7C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685800" y="4343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Goal and finish line are yours</a:t>
            </a:r>
            <a:endParaRPr lang="en-US" sz="1400" dirty="0"/>
          </a:p>
        </p:txBody>
      </p:sp>
      <p:sp>
        <p:nvSpPr>
          <p:cNvPr id="10" name="Takeaway 2"/>
          <p:cNvSpPr/>
          <p:nvPr/>
        </p:nvSpPr>
        <p:spPr>
          <a:xfrm>
            <a:off x="4297680" y="4343400"/>
            <a:ext cx="3474720" cy="566928"/>
          </a:xfrm>
          <a:prstGeom prst="roundRect">
            <a:avLst>
              <a:gd name="adj" fmla="val 50000"/>
            </a:avLst>
          </a:prstGeom>
          <a:solidFill>
            <a:schemeClr val="accent6">
              <a:alpha val="14000"/>
            </a:schemeClr>
          </a:solidFill>
          <a:ln w="12700">
            <a:solidFill>
              <a:srgbClr val="FF5C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8"/>
          <p:cNvSpPr txBox="1"/>
          <p:nvPr/>
        </p:nvSpPr>
        <p:spPr>
          <a:xfrm>
            <a:off x="4297680" y="4343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Structure beats more words</a:t>
            </a:r>
            <a:endParaRPr lang="en-US" sz="1400" dirty="0"/>
          </a:p>
        </p:txBody>
      </p:sp>
      <p:sp>
        <p:nvSpPr>
          <p:cNvPr id="12" name="Takeaway 3"/>
          <p:cNvSpPr/>
          <p:nvPr/>
        </p:nvSpPr>
        <p:spPr>
          <a:xfrm>
            <a:off x="7909560" y="4343400"/>
            <a:ext cx="3474720" cy="566928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3DDC9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 txBox="1"/>
          <p:nvPr/>
        </p:nvSpPr>
        <p:spPr>
          <a:xfrm>
            <a:off x="7909560" y="4343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You choose the direction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349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Thank you. Questions are very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yond Coding">
  <a:themeElements>
    <a:clrScheme name="Beyond Coding">
      <a:dk1>
        <a:srgbClr val="0B0E14"/>
      </a:dk1>
      <a:lt1>
        <a:srgbClr val="F5F5F7"/>
      </a:lt1>
      <a:dk2>
        <a:srgbClr val="161B24"/>
      </a:dk2>
      <a:lt2>
        <a:srgbClr val="9AA3B2"/>
      </a:lt2>
      <a:accent1>
        <a:srgbClr val="FF6B3D"/>
      </a:accent1>
      <a:accent2>
        <a:srgbClr val="8B7CFF"/>
      </a:accent2>
      <a:accent3>
        <a:srgbClr val="3DDC97"/>
      </a:accent3>
      <a:accent4>
        <a:srgbClr val="4CC9F0"/>
      </a:accent4>
      <a:accent5>
        <a:srgbClr val="FFC857"/>
      </a:accent5>
      <a:accent6>
        <a:srgbClr val="FF5C8A"/>
      </a:accent6>
      <a:hlink>
        <a:srgbClr val="4CC9F0"/>
      </a:hlink>
      <a:folHlink>
        <a:srgbClr val="8B7CFF"/>
      </a:folHlink>
    </a:clrScheme>
    <a:fontScheme name="Beyond Coding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1472</Words>
  <Application>Microsoft Macintosh PowerPoint</Application>
  <PresentationFormat>Widescreen</PresentationFormat>
  <Paragraphs>351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Avenir Next</vt:lpstr>
      <vt:lpstr>Menlo</vt:lpstr>
      <vt:lpstr>Beyond Coding</vt:lpstr>
      <vt:lpstr>Beyond Coding</vt:lpstr>
      <vt:lpstr>Two quick questions</vt:lpstr>
      <vt:lpstr>You’ll leave with four things</vt:lpstr>
      <vt:lpstr>The evolution of AI-assisted engineering</vt:lpstr>
      <vt:lpstr>And where it’s heading</vt:lpstr>
      <vt:lpstr>More words didn't mean better aim</vt:lpstr>
      <vt:lpstr>Adding a harness</vt:lpstr>
      <vt:lpstr>What makes an agent an agent</vt:lpstr>
      <vt:lpstr>How to work with an agent</vt:lpstr>
      <vt:lpstr>Skills, agents and hooks, as a kitchen</vt:lpstr>
      <vt:lpstr>The next level: a team you can watch</vt:lpstr>
      <vt:lpstr>From my ticket to the whole picture</vt:lpstr>
      <vt:lpstr>What we’re slowly losing</vt:lpstr>
      <vt:lpstr>“Done” was only the tip</vt:lpstr>
      <vt:lpstr>PowerPoint Presentation</vt:lpstr>
      <vt:lpstr>Who sets the pace?</vt:lpstr>
      <vt:lpstr>Roles are shifting too</vt:lpstr>
      <vt:lpstr>The bar is rising. You can train for it.</vt:lpstr>
      <vt:lpstr>Six moves, starting tomorrow</vt:lpstr>
      <vt:lpstr>Think → Build: your starter kit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Coding: Engineering with AI Agents</dc:title>
  <dc:subject>PptxGenJS Presentation</dc:subject>
  <dc:creator>PptxGenJS</dc:creator>
  <cp:lastModifiedBy>Samet Nargul</cp:lastModifiedBy>
  <cp:revision>6</cp:revision>
  <dcterms:created xsi:type="dcterms:W3CDTF">2026-10-15T20:56:09Z</dcterms:created>
  <dcterms:modified xsi:type="dcterms:W3CDTF">2026-10-17T09:08:26Z</dcterms:modified>
</cp:coreProperties>
</file>